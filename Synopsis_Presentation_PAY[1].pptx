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497" r:id="rId3"/>
    <p:sldId id="499" r:id="rId4"/>
    <p:sldId id="507" r:id="rId5"/>
    <p:sldId id="500" r:id="rId6"/>
    <p:sldId id="501" r:id="rId7"/>
    <p:sldId id="502" r:id="rId8"/>
    <p:sldId id="503" r:id="rId9"/>
    <p:sldId id="508" r:id="rId10"/>
    <p:sldId id="506" r:id="rId11"/>
    <p:sldId id="509" r:id="rId12"/>
    <p:sldId id="269" r:id="rId13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AA"/>
    <a:srgbClr val="0066B3"/>
    <a:srgbClr val="E31E24"/>
    <a:srgbClr val="006CB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437" autoAdjust="0"/>
    <p:restoredTop sz="94660"/>
  </p:normalViewPr>
  <p:slideViewPr>
    <p:cSldViewPr>
      <p:cViewPr varScale="1">
        <p:scale>
          <a:sx n="65" d="100"/>
          <a:sy n="65" d="100"/>
        </p:scale>
        <p:origin x="-1028" y="-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696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EA50CB9-56DE-31B2-1098-9E71ADEDC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A0A157ED-9196-070B-03D2-6FE6317058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84E38988-A9A4-28F1-3031-903B0DC0F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0DAD130-048E-2ECD-E747-13E1DC11F1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5656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4681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754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6401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9D9CB42-67FF-A56C-05D1-F3CA77565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E229108E-4C40-8FA2-5882-5CAF979E37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36C1E6B8-D38C-99EF-99AB-B9CFD6B0BB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4960A5D-F436-34AE-AEE7-EA596C7FBA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1805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691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9A80FAA-8FF1-CA16-503E-7EE1828F0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5BADDF11-2325-93C8-615C-4DD2EC242C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FE37C88F-6B42-67A0-95F1-7C89B0444C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58F2525-8EA6-D7F2-FEE2-460ED625C1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887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260" y="-27384"/>
            <a:ext cx="9180512" cy="6885384"/>
          </a:xfrm>
        </p:spPr>
      </p:pic>
      <p:cxnSp>
        <p:nvCxnSpPr>
          <p:cNvPr id="11" name="Straight Connector 10"/>
          <p:cNvCxnSpPr>
            <a:cxnSpLocks/>
          </p:cNvCxnSpPr>
          <p:nvPr/>
        </p:nvCxnSpPr>
        <p:spPr>
          <a:xfrm>
            <a:off x="1547664" y="2219553"/>
            <a:ext cx="63367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6440" y="2291636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Second Year Project Synopsis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Submitted by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xmlns="" id="{232DFD41-0025-28B4-FE3B-A54FAEE28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942400"/>
              </p:ext>
            </p:extLst>
          </p:nvPr>
        </p:nvGraphicFramePr>
        <p:xfrm>
          <a:off x="1625688" y="3275298"/>
          <a:ext cx="6096000" cy="17831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xmlns="" val="353727046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xmlns="" val="3305024946"/>
                    </a:ext>
                  </a:extLst>
                </a:gridCol>
              </a:tblGrid>
              <a:tr h="45155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76101868"/>
                  </a:ext>
                </a:extLst>
              </a:tr>
              <a:tr h="451552">
                <a:tc>
                  <a:txBody>
                    <a:bodyPr/>
                    <a:lstStyle/>
                    <a:p>
                      <a:r>
                        <a:rPr lang="en-US" dirty="0"/>
                        <a:t>2301420060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Priyanshu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58206324"/>
                  </a:ext>
                </a:extLst>
              </a:tr>
              <a:tr h="451552">
                <a:tc>
                  <a:txBody>
                    <a:bodyPr/>
                    <a:lstStyle/>
                    <a:p>
                      <a:r>
                        <a:rPr lang="en-US" dirty="0"/>
                        <a:t>2301420019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Ansh Vashist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41949598"/>
                  </a:ext>
                </a:extLst>
              </a:tr>
              <a:tr h="428502">
                <a:tc>
                  <a:txBody>
                    <a:bodyPr/>
                    <a:lstStyle/>
                    <a:p>
                      <a:r>
                        <a:rPr lang="en-US" dirty="0"/>
                        <a:t>2301420059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Yash Chauhan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4337506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3DF18845-4075-32C5-8F4A-4F40F86E837F}"/>
              </a:ext>
            </a:extLst>
          </p:cNvPr>
          <p:cNvSpPr txBox="1"/>
          <p:nvPr/>
        </p:nvSpPr>
        <p:spPr>
          <a:xfrm>
            <a:off x="2198815" y="1171959"/>
            <a:ext cx="46592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25000"/>
            </a:pPr>
            <a:r>
              <a:rPr lang="en-IN" sz="5400" b="1" dirty="0" err="1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MarketPulse</a:t>
            </a:r>
            <a:endParaRPr lang="en-IN" sz="5400" b="1" dirty="0">
              <a:solidFill>
                <a:srgbClr val="C00000"/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0D4C745-33B7-0116-E20F-11A7F0DFD46F}"/>
              </a:ext>
            </a:extLst>
          </p:cNvPr>
          <p:cNvSpPr txBox="1"/>
          <p:nvPr/>
        </p:nvSpPr>
        <p:spPr>
          <a:xfrm>
            <a:off x="236440" y="5733256"/>
            <a:ext cx="85840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Industry Mentor:</a:t>
            </a:r>
          </a:p>
          <a:p>
            <a:pPr lvl="0">
              <a:buSzPct val="25000"/>
            </a:pP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Faculty Mentor</a:t>
            </a:r>
            <a:r>
              <a:rPr lang="en-IN" b="1" dirty="0" smtClean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: </a:t>
            </a:r>
            <a:r>
              <a:rPr lang="en-IN" b="1" dirty="0" err="1" smtClean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Ms.</a:t>
            </a:r>
            <a:r>
              <a:rPr lang="en-IN" b="1" dirty="0" smtClean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en-IN" b="1" dirty="0" err="1" smtClean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Neetu</a:t>
            </a:r>
            <a:r>
              <a:rPr lang="en-IN" sz="1800" b="1" dirty="0" smtClean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</a:t>
            </a:r>
            <a:endParaRPr lang="en-IN" sz="1800" b="1" dirty="0">
              <a:solidFill>
                <a:srgbClr val="0070C0"/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A8D4F8F6-BEAA-B89B-3D68-869297888EDB}"/>
              </a:ext>
            </a:extLst>
          </p:cNvPr>
          <p:cNvSpPr txBox="1"/>
          <p:nvPr/>
        </p:nvSpPr>
        <p:spPr>
          <a:xfrm>
            <a:off x="1979712" y="5733256"/>
            <a:ext cx="2160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Jatin Dagar</a:t>
            </a: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1537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38BF8D1C-4529-C8F9-8601-3C339B7E1585}"/>
              </a:ext>
            </a:extLst>
          </p:cNvPr>
          <p:cNvSpPr txBox="1"/>
          <p:nvPr/>
        </p:nvSpPr>
        <p:spPr>
          <a:xfrm>
            <a:off x="377788" y="1401112"/>
            <a:ext cx="842493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200" dirty="0">
                <a:latin typeface="+mj-lt"/>
                <a:cs typeface="Biome" panose="020B0502040204020203" pitchFamily="34" charset="0"/>
              </a:rPr>
              <a:t>Digital Idea Force is a marketing agency known for it’s Digital marketing services, social media management, Ads services, and lead tracking. This is a growing startup with strong offline network. We are collaborating with this startup to make a Digital presence for this company and make it scalable and attract online customers with a dynamic website showcasing these services.</a:t>
            </a:r>
          </a:p>
        </p:txBody>
      </p:sp>
    </p:spTree>
    <p:extLst>
      <p:ext uri="{BB962C8B-B14F-4D97-AF65-F5344CB8AC3E}">
        <p14:creationId xmlns:p14="http://schemas.microsoft.com/office/powerpoint/2010/main" val="3353784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00BCB9D-96AE-CB6E-9C36-464483450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612461A6-C9CF-A279-E846-5AFA1CEF06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xmlns="" id="{B99D4242-71CF-DE3F-0B66-C21402FDC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59260"/>
            <a:ext cx="4550156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4400" dirty="0">
                <a:solidFill>
                  <a:prstClr val="black"/>
                </a:solidFill>
                <a:latin typeface="Calibri"/>
                <a:ea typeface="+mj-ea"/>
                <a:cs typeface="+mj-cs"/>
                <a:sym typeface="Arial"/>
              </a:rPr>
              <a:t>A</a:t>
            </a:r>
            <a:r>
              <a:rPr lang="en-IN" sz="4400" dirty="0">
                <a:solidFill>
                  <a:prstClr val="black"/>
                </a:solidFill>
                <a:latin typeface="Calibri"/>
                <a:ea typeface="+mj-ea"/>
                <a:cs typeface="+mj-cs"/>
                <a:sym typeface="Arial"/>
              </a:rPr>
              <a:t>bout the Problem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74824933-86C5-EFBA-36B9-358001A06AC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9E3AE5FC-8649-27D3-900D-5F6329A7F4F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E099852-B907-412D-6E46-D21E628B3AD6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A3DEF35-11EC-5059-39F1-AC5BCC365022}"/>
              </a:ext>
            </a:extLst>
          </p:cNvPr>
          <p:cNvSpPr txBox="1"/>
          <p:nvPr/>
        </p:nvSpPr>
        <p:spPr>
          <a:xfrm>
            <a:off x="300435" y="1175251"/>
            <a:ext cx="8208912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Gaps Researched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No online presence.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Difficulty attracting and engaging potential clients.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High competition in digital space.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Lack of effective SEO, social media, or content strategies.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Inefficient use of digital tools and platforms.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3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70D19385-2E28-BDBB-53E4-150CDB21C4B3}"/>
              </a:ext>
            </a:extLst>
          </p:cNvPr>
          <p:cNvSpPr txBox="1"/>
          <p:nvPr/>
        </p:nvSpPr>
        <p:spPr>
          <a:xfrm>
            <a:off x="323528" y="3501008"/>
            <a:ext cx="8424936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Need for Solution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 A comprehensive digital strategy tailored to the agency's goals.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 Improved website with optimized UX, mobile responsiveness, and fast load         </a:t>
            </a:r>
          </a:p>
          <a:p>
            <a:r>
              <a:rPr lang="en-US" sz="2000" dirty="0"/>
              <a:t>      times.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 Effective content marketing to showcase expertise and success.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 Strong social media presence and audience engagement.</a:t>
            </a:r>
          </a:p>
        </p:txBody>
      </p:sp>
    </p:spTree>
    <p:extLst>
      <p:ext uri="{BB962C8B-B14F-4D97-AF65-F5344CB8AC3E}">
        <p14:creationId xmlns:p14="http://schemas.microsoft.com/office/powerpoint/2010/main" val="3638403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64742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412D7EC8-BFDC-C4B6-F5D1-9906B7D02893}"/>
              </a:ext>
            </a:extLst>
          </p:cNvPr>
          <p:cNvSpPr txBox="1"/>
          <p:nvPr/>
        </p:nvSpPr>
        <p:spPr>
          <a:xfrm>
            <a:off x="533878" y="1320691"/>
            <a:ext cx="691276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Define the Problem Clearly</a:t>
            </a:r>
          </a:p>
          <a:p>
            <a:r>
              <a:rPr lang="en-US" dirty="0"/>
              <a:t> The digital marketing agency currently lacks a strong and</a:t>
            </a:r>
          </a:p>
          <a:p>
            <a:r>
              <a:rPr lang="en-US" dirty="0"/>
              <a:t>  cohesive online presence. This results in: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Limited reach to potential clients in their target market.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Missed opportunities to engage with leads through effective  </a:t>
            </a:r>
          </a:p>
          <a:p>
            <a:r>
              <a:rPr lang="en-US" dirty="0"/>
              <a:t>    online platforms such as websites, social media, and email </a:t>
            </a:r>
          </a:p>
          <a:p>
            <a:r>
              <a:rPr lang="en-US" dirty="0"/>
              <a:t>    campaigns.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A341138A-0F90-0ED4-8A32-12FD27AED047}"/>
              </a:ext>
            </a:extLst>
          </p:cNvPr>
          <p:cNvSpPr txBox="1"/>
          <p:nvPr/>
        </p:nvSpPr>
        <p:spPr>
          <a:xfrm>
            <a:off x="524292" y="3689444"/>
            <a:ext cx="842493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Why is it Important?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 Reputation:</a:t>
            </a:r>
            <a:r>
              <a:rPr lang="en-US" dirty="0"/>
              <a:t> A strong digital presence is crucial to establish credibility and trust in the</a:t>
            </a:r>
          </a:p>
          <a:p>
            <a:r>
              <a:rPr lang="en-US" dirty="0"/>
              <a:t>    highly competitive digital marketing space.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 Client Acquisition:</a:t>
            </a:r>
            <a:r>
              <a:rPr lang="en-US" dirty="0"/>
              <a:t> Potential clients often research agencies online before making a</a:t>
            </a:r>
          </a:p>
          <a:p>
            <a:r>
              <a:rPr lang="en-US" dirty="0"/>
              <a:t>    decision; a poor online presence could result in lost opportunities.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 Revenue Growth:</a:t>
            </a:r>
            <a:r>
              <a:rPr lang="en-US" dirty="0"/>
              <a:t> By engaging more clients online, the agency can increase its</a:t>
            </a:r>
          </a:p>
          <a:p>
            <a:r>
              <a:rPr lang="en-US" dirty="0"/>
              <a:t>    revenue streams through broader exposure and lead conversion..</a:t>
            </a:r>
          </a:p>
        </p:txBody>
      </p:sp>
    </p:spTree>
    <p:extLst>
      <p:ext uri="{BB962C8B-B14F-4D97-AF65-F5344CB8AC3E}">
        <p14:creationId xmlns:p14="http://schemas.microsoft.com/office/powerpoint/2010/main" val="1047329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B14FE12-9F36-1DAE-B174-062D669256D2}"/>
              </a:ext>
            </a:extLst>
          </p:cNvPr>
          <p:cNvSpPr txBox="1"/>
          <p:nvPr/>
        </p:nvSpPr>
        <p:spPr>
          <a:xfrm>
            <a:off x="467544" y="1355026"/>
            <a:ext cx="7560840" cy="4980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 The goal of this project is to design and develop a professional, user-friendly, and engaging website for Digital Idea Force and online strategy to help tackle its challenges in expanding.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website will serve as a digital portfolio, showcasing services, case studies, and client testimonials while also providing an easy way for potential clients to get in touch.</a:t>
            </a:r>
          </a:p>
          <a:p>
            <a:endParaRPr lang="en-US" sz="2000" dirty="0"/>
          </a:p>
          <a:p>
            <a:r>
              <a:rPr lang="en-US" sz="2000" b="1" dirty="0"/>
              <a:t>Target Audience: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Small and medium-sized businesses looking for digital marketing</a:t>
            </a:r>
          </a:p>
          <a:p>
            <a:r>
              <a:rPr lang="en-US" sz="2000" dirty="0"/>
              <a:t>    solutions.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Entrepreneurs and startups in need of branding and marketing</a:t>
            </a:r>
          </a:p>
          <a:p>
            <a:r>
              <a:rPr lang="en-US" sz="2000" dirty="0"/>
              <a:t>    strategies.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Companies looking for SEO, PPC, social media, and content marketing</a:t>
            </a:r>
          </a:p>
          <a:p>
            <a:r>
              <a:rPr lang="en-US" sz="2000" dirty="0"/>
              <a:t>    services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957423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224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857318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Methodology, Tools, and Techniques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9716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4FD2DEC-853B-1F58-B958-D38FBE8F7014}"/>
              </a:ext>
            </a:extLst>
          </p:cNvPr>
          <p:cNvSpPr txBox="1"/>
          <p:nvPr/>
        </p:nvSpPr>
        <p:spPr>
          <a:xfrm>
            <a:off x="720080" y="1869893"/>
            <a:ext cx="75243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800" dirty="0"/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xmlns="" id="{1DB05647-D009-9945-97C3-515856F5C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138030"/>
            <a:ext cx="7452320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Methodology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development of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 Idea Force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website follows a structured approach to ensure efficiency and usability: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 Browsing &amp; Selection: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Users can explore categorized marketing services with detailed descriptions, case studies, and pricing. Search and filter options enhance accessibility.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Inquiry &amp; Communication: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Clients can submit inquiries or schedule consultations, triggering real-time notifications for prompt responses. Automated emails ensure seamless engagement.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Feedback &amp; Improvement: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Post-project feedback is analyzed to enhance services and website features, ensuring continuous evolution.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approach streamlines service delivery, enhances customer satisfaction, and strengthens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 Idea Force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a leader in digital marketing.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6A2973BD-D3AD-477F-5B1F-7ABF5A136708}"/>
              </a:ext>
            </a:extLst>
          </p:cNvPr>
          <p:cNvSpPr txBox="1"/>
          <p:nvPr/>
        </p:nvSpPr>
        <p:spPr>
          <a:xfrm>
            <a:off x="251520" y="4464888"/>
            <a:ext cx="799288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Tools &amp; Technologies Used</a:t>
            </a: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Frontend:</a:t>
            </a:r>
            <a:r>
              <a:rPr lang="en-IN" dirty="0"/>
              <a:t> HTML </a:t>
            </a:r>
            <a:r>
              <a:rPr lang="en-IN" dirty="0" smtClean="0"/>
              <a:t>, CSS, &amp; </a:t>
            </a:r>
            <a:r>
              <a:rPr lang="en-IN" dirty="0" err="1" smtClean="0"/>
              <a:t>js</a:t>
            </a:r>
            <a:r>
              <a:rPr lang="en-IN" dirty="0" smtClean="0"/>
              <a:t> </a:t>
            </a:r>
            <a:r>
              <a:rPr lang="en-IN" dirty="0"/>
              <a:t>for structure, styling, and responsiveness.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Backend:</a:t>
            </a:r>
            <a:r>
              <a:rPr lang="en-IN" dirty="0"/>
              <a:t> </a:t>
            </a:r>
            <a:r>
              <a:rPr lang="en-IN" dirty="0" err="1" smtClean="0"/>
              <a:t>Php</a:t>
            </a:r>
            <a:r>
              <a:rPr lang="en-IN" dirty="0" smtClean="0"/>
              <a:t> &amp; </a:t>
            </a:r>
            <a:r>
              <a:rPr lang="en-IN" dirty="0" err="1" smtClean="0"/>
              <a:t>Mysql</a:t>
            </a:r>
            <a:r>
              <a:rPr lang="en-IN" dirty="0" smtClean="0"/>
              <a:t> for </a:t>
            </a:r>
            <a:r>
              <a:rPr lang="en-IN" dirty="0"/>
              <a:t>real-time interactions and scalability.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SEO:</a:t>
            </a:r>
            <a:r>
              <a:rPr lang="en-IN" dirty="0"/>
              <a:t> Screaming Frog for auditing and optimization.</a:t>
            </a:r>
          </a:p>
          <a:p>
            <a:r>
              <a:rPr lang="en-IN" dirty="0"/>
              <a:t>These ensure a seamless, high-performing user experience.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5812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7133" y="346645"/>
            <a:ext cx="828092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 Flowchart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AutoShape 2" descr="A professional and simple flowchart with five sequential steps: 1) Requirement Analysis, 2) Frontend Development, 3) Backend Development, 4) Testing &amp; Debugging, 5) Deployment. Each step is inside a rectangular box, connected by arrows indicating the process flow from top to bottom. The design is clean, minimalistic, and structured with a neutral color palette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" name="AutoShape 4" descr="A professional and simple flowchart with five sequential steps: 1) Requirement Analysis, 2) Frontend Development, 3) Backend Development, 4) Testing &amp; Debugging, 5) Deployment. Each step is inside a rectangular box, connected by arrows indicating the process flow from top to bottom. The design is clean, minimalistic, and structured with a neutral color palette.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030" name="Picture 6" descr="C:\Users\USER\AppData\Local\Temp\{84DF9512-B90D-4BC5-BD2B-BE2251E6CDBF}.tmp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915" y="1509947"/>
            <a:ext cx="7388820" cy="4302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3371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98D841B-74CA-DD08-DC57-274479699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EAC2900B-3645-9BD6-81D9-B808969A66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xmlns="" id="{C8ECEBC8-6DCD-2500-2951-CF7967A47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133" y="346645"/>
            <a:ext cx="828092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DB126F11-6A87-E75F-D5F6-D578C1CC7C27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006947D3-B53B-9D95-1C04-7E3AA0B640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5C40F21-AABC-DFB9-90B1-AD1CF565BB7B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xmlns="" id="{9DFE7FB9-9A23-8CD0-2E2C-D4182EBD04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6260427"/>
              </p:ext>
            </p:extLst>
          </p:nvPr>
        </p:nvGraphicFramePr>
        <p:xfrm>
          <a:off x="755576" y="1195235"/>
          <a:ext cx="7416824" cy="475404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202264">
                  <a:extLst>
                    <a:ext uri="{9D8B030D-6E8A-4147-A177-3AD203B41FA5}">
                      <a16:colId xmlns:a16="http://schemas.microsoft.com/office/drawing/2014/main" xmlns="" val="2691973836"/>
                    </a:ext>
                  </a:extLst>
                </a:gridCol>
                <a:gridCol w="2216952">
                  <a:extLst>
                    <a:ext uri="{9D8B030D-6E8A-4147-A177-3AD203B41FA5}">
                      <a16:colId xmlns:a16="http://schemas.microsoft.com/office/drawing/2014/main" xmlns="" val="3145536772"/>
                    </a:ext>
                  </a:extLst>
                </a:gridCol>
                <a:gridCol w="1997608">
                  <a:extLst>
                    <a:ext uri="{9D8B030D-6E8A-4147-A177-3AD203B41FA5}">
                      <a16:colId xmlns:a16="http://schemas.microsoft.com/office/drawing/2014/main" xmlns="" val="1518454265"/>
                    </a:ext>
                  </a:extLst>
                </a:gridCol>
              </a:tblGrid>
              <a:tr h="474154">
                <a:tc>
                  <a:txBody>
                    <a:bodyPr/>
                    <a:lstStyle/>
                    <a:p>
                      <a:r>
                        <a:rPr lang="en-IN" dirty="0"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DURATION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28971075"/>
                  </a:ext>
                </a:extLst>
              </a:tr>
              <a:tr h="855978">
                <a:tc>
                  <a:txBody>
                    <a:bodyPr/>
                    <a:lstStyle/>
                    <a:p>
                      <a:r>
                        <a:rPr lang="en-IN" dirty="0"/>
                        <a:t>Phase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Requirement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 Weeks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26749346"/>
                  </a:ext>
                </a:extLst>
              </a:tr>
              <a:tr h="855978">
                <a:tc>
                  <a:txBody>
                    <a:bodyPr/>
                    <a:lstStyle/>
                    <a:p>
                      <a:r>
                        <a:rPr lang="en-IN" dirty="0"/>
                        <a:t>Phase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Frontend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 Weeks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432454937"/>
                  </a:ext>
                </a:extLst>
              </a:tr>
              <a:tr h="855978">
                <a:tc>
                  <a:txBody>
                    <a:bodyPr/>
                    <a:lstStyle/>
                    <a:p>
                      <a:r>
                        <a:rPr lang="en-IN" dirty="0"/>
                        <a:t>Phase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Backend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 Weeks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76477474"/>
                  </a:ext>
                </a:extLst>
              </a:tr>
              <a:tr h="855978">
                <a:tc>
                  <a:txBody>
                    <a:bodyPr/>
                    <a:lstStyle/>
                    <a:p>
                      <a:r>
                        <a:rPr lang="en-IN" dirty="0"/>
                        <a:t>Phase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Testing &amp; Debugging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 Weeks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20317916"/>
                  </a:ext>
                </a:extLst>
              </a:tr>
              <a:tr h="855978">
                <a:tc>
                  <a:txBody>
                    <a:bodyPr/>
                    <a:lstStyle/>
                    <a:p>
                      <a:r>
                        <a:rPr lang="en-IN" dirty="0"/>
                        <a:t>Phase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Deployment &amp; Finalization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 Weeks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998766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3701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 Results &amp; Impact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8A0BA87-FFCE-0AD9-17CC-A811FB343CCE}"/>
              </a:ext>
            </a:extLst>
          </p:cNvPr>
          <p:cNvSpPr txBox="1"/>
          <p:nvPr/>
        </p:nvSpPr>
        <p:spPr>
          <a:xfrm>
            <a:off x="179511" y="1061448"/>
            <a:ext cx="7272809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Expected Results: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Enhanced Online Presence</a:t>
            </a:r>
            <a:r>
              <a:rPr lang="en-US" sz="1600" dirty="0"/>
              <a:t> – A professionally designed website will improve brand visibility and credibility.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User Engagement &amp; Experience</a:t>
            </a:r>
            <a:r>
              <a:rPr lang="en-US" sz="1600" dirty="0"/>
              <a:t> – A user-friendly, visually appealing interface will attract and retain visitors.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Showcasing Services &amp; Case Studies</a:t>
            </a:r>
            <a:r>
              <a:rPr lang="en-US" sz="1600" dirty="0"/>
              <a:t> – A structured portfolio will highlight expertise and past successes.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Lead Generation &amp; Client Acquisition</a:t>
            </a:r>
            <a:r>
              <a:rPr lang="en-US" sz="1600" dirty="0"/>
              <a:t> – Clear CTAs (Call-to-Actions) will encourage inquiries and conversions.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SEO &amp; Digital Marketing Optimization</a:t>
            </a:r>
            <a:r>
              <a:rPr lang="en-US" sz="1600" dirty="0"/>
              <a:t> – Improved search engine rankings will drive organic traffic.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Mobile &amp; Cross-Platform Accessibility</a:t>
            </a:r>
            <a:r>
              <a:rPr lang="en-US" sz="1600" dirty="0"/>
              <a:t> – Responsive design ensures accessibility across all devices.</a:t>
            </a:r>
          </a:p>
          <a:p>
            <a:pPr>
              <a:buFont typeface="+mj-lt"/>
              <a:buAutoNum type="arabicPeriod"/>
            </a:pPr>
            <a:endParaRPr lang="en-US" sz="1600" dirty="0"/>
          </a:p>
          <a:p>
            <a:r>
              <a:rPr lang="en-US" b="1" dirty="0"/>
              <a:t>Impacts</a:t>
            </a:r>
            <a:r>
              <a:rPr lang="en-US" sz="1600" b="1" dirty="0"/>
              <a:t>: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Business Growth</a:t>
            </a:r>
            <a:r>
              <a:rPr lang="en-US" sz="1600" dirty="0"/>
              <a:t> – Increased website traffic and engagement will lead to higher client acquisition and revenue.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Client Trust &amp; Credibility</a:t>
            </a:r>
            <a:r>
              <a:rPr lang="en-US" sz="1600" dirty="0"/>
              <a:t> – Testimonials and case studies will build confidence among potential customers.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Scalability &amp; Future Expansion</a:t>
            </a:r>
            <a:r>
              <a:rPr lang="en-US" sz="1600" dirty="0"/>
              <a:t> – A scalable website structure will allow for future service additions and growth.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56260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B5A90B0-DF45-D772-F2C2-4DA9C9459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B8841DBC-268C-A507-A4A1-7C73606563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xmlns="" id="{1FEB11A7-55F7-BA44-4ABC-0E9514E1A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133" y="346645"/>
            <a:ext cx="828092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914D0127-5B9D-1F1F-5AC4-DBE6A7B70CC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E1913F5F-C1D7-7FAC-0C7C-5A9C9314CC4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519A5981-DFEE-F419-D91C-B08F4A8F860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401230E-A2B3-BF6C-96B3-DAEBFDD3C4B8}"/>
              </a:ext>
            </a:extLst>
          </p:cNvPr>
          <p:cNvSpPr txBox="1"/>
          <p:nvPr/>
        </p:nvSpPr>
        <p:spPr>
          <a:xfrm>
            <a:off x="755576" y="1351936"/>
            <a:ext cx="6624736" cy="4982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457200" algn="l"/>
                <a:tab pos="4341495" algn="l"/>
              </a:tabLst>
            </a:pP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</a:t>
            </a:r>
            <a:r>
              <a:rPr lang="en-GB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ielsen, J. (2020). </a:t>
            </a:r>
            <a:r>
              <a:rPr lang="en-GB" sz="1800" i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User Experience Guidelines for Website Development</a:t>
            </a:r>
            <a:r>
              <a:rPr lang="en-GB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Nielsen Norman Group.</a:t>
            </a:r>
            <a:endParaRPr lang="en-IN" sz="180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lvl="0" indent="-342900" algn="just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457200" algn="l"/>
                <a:tab pos="4341495" algn="l"/>
              </a:tabLst>
            </a:pPr>
            <a:r>
              <a:rPr lang="en-GB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Chaffey, D. (2021). </a:t>
            </a:r>
            <a:r>
              <a:rPr lang="en-GB" sz="1800" i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Digital Marketing Strategies for Business Growth</a:t>
            </a:r>
            <a:r>
              <a:rPr lang="en-GB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Pearson.</a:t>
            </a:r>
            <a:endParaRPr lang="en-IN" sz="180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lvl="0" indent="-342900" algn="just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457200" algn="l"/>
                <a:tab pos="4341495" algn="l"/>
              </a:tabLst>
            </a:pPr>
            <a:r>
              <a:rPr lang="en-GB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Google Developers. (2023). </a:t>
            </a:r>
            <a:r>
              <a:rPr lang="en-GB" sz="1800" i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SEO Best Practices and Web Performance Optimization</a:t>
            </a:r>
            <a:r>
              <a:rPr lang="en-GB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Google.</a:t>
            </a:r>
            <a:endParaRPr lang="en-IN" sz="180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lvl="0" indent="-342900" algn="just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457200" algn="l"/>
                <a:tab pos="4341495" algn="l"/>
              </a:tabLst>
            </a:pPr>
            <a:r>
              <a:rPr lang="en-GB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SEMrush. (2024). </a:t>
            </a:r>
            <a:r>
              <a:rPr lang="en-GB" sz="1800" i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SEO and Website Development Insights</a:t>
            </a:r>
            <a:r>
              <a:rPr lang="en-GB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SEMrush Research.</a:t>
            </a:r>
            <a:endParaRPr lang="en-IN" sz="180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lvl="0" indent="-342900" algn="just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457200" algn="l"/>
                <a:tab pos="4341495" algn="l"/>
              </a:tabLst>
            </a:pPr>
            <a:r>
              <a:rPr lang="en-GB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W3C Web Standards. (2023). </a:t>
            </a:r>
            <a:r>
              <a:rPr lang="en-GB" sz="1800" i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Web Design and Accessibility Guidelines</a:t>
            </a:r>
            <a:r>
              <a:rPr lang="en-GB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World Wide Web Consortium.</a:t>
            </a:r>
            <a:endParaRPr lang="en-IN" sz="180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lvl="0" indent="-342900" algn="just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457200" algn="l"/>
                <a:tab pos="4341495" algn="l"/>
              </a:tabLst>
            </a:pPr>
            <a:r>
              <a:rPr lang="en-GB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Moz. (2024). </a:t>
            </a:r>
            <a:r>
              <a:rPr lang="en-GB" sz="1800" i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Search Engine Optimization Techniques and Digital Marketing Strategies</a:t>
            </a:r>
            <a:r>
              <a:rPr lang="en-GB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Moz Research.</a:t>
            </a:r>
            <a:endParaRPr lang="en-IN" sz="180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015379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6388</TotalTime>
  <Words>971</Words>
  <Application>Microsoft Office PowerPoint</Application>
  <PresentationFormat>On-screen Show (4:3)</PresentationFormat>
  <Paragraphs>139</Paragraphs>
  <Slides>12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USER</cp:lastModifiedBy>
  <cp:revision>333</cp:revision>
  <cp:lastPrinted>2022-09-05T08:43:44Z</cp:lastPrinted>
  <dcterms:created xsi:type="dcterms:W3CDTF">2020-01-16T09:05:56Z</dcterms:created>
  <dcterms:modified xsi:type="dcterms:W3CDTF">2025-04-29T12:29:59Z</dcterms:modified>
</cp:coreProperties>
</file>